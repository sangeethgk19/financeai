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image" Target="../media/image5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57.png"/><Relationship Id="rId11" Type="http://schemas.openxmlformats.org/officeDocument/2006/relationships/image" Target="../media/image26.png"/><Relationship Id="rId12" Type="http://schemas.openxmlformats.org/officeDocument/2006/relationships/image" Target="../media/image74.png"/><Relationship Id="rId13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409033"/>
            <a:ext cx="11029950" cy="733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6505575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01 / 08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715541"/>
            <a:ext cx="2667000" cy="238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2067966"/>
            <a:ext cx="11581447" cy="1007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b="1" sz="3450" i="0" u="none">
                <a:solidFill>
                  <a:srgbClr val="F8FAFC"/>
                </a:solidFill>
                <a:latin typeface="Space Grotesk"/>
              </a:rPr>
              <a:t>FinanceAI: </a:t>
            </a:r>
            <a:r>
              <a:rPr b="1" sz="3450" i="0" u="none">
                <a:solidFill>
                  <a:srgbClr val="38BDF8"/>
                </a:solidFill>
                <a:latin typeface="Space Grotesk"/>
              </a:rPr>
              <a:t>Benchmarking Small Language Models</a:t>
            </a:r>
            <a:r>
              <a:rPr b="1" sz="3450" i="0" u="none">
                <a:solidFill>
                  <a:srgbClr val="F8FAFC"/>
                </a:solidFill>
                <a:latin typeface="Space Grotesk"/>
              </a:rPr>
              <a:t> for Private, Offline Deployment in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227933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 privacy-first, on-device AI assistant evaluating local open-weight SLMs against strict regulatory and financial benchmark standards.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704308"/>
            <a:ext cx="274534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Space Grotesk"/>
              </a:rPr>
              <a:t>AUTHOR / 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913858"/>
            <a:ext cx="26146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1F5F9"/>
                </a:solidFill>
                <a:latin typeface="Plus Jakarta Sans SemiBold"/>
              </a:rPr>
              <a:t>MSc Candidate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6137" y="4704308"/>
            <a:ext cx="274534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Space Grotesk"/>
              </a:rPr>
              <a:t>INSTITUTION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6137" y="4913858"/>
            <a:ext cx="26146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1F5F9"/>
                </a:solidFill>
                <a:latin typeface="Plus Jakarta Sans SemiBold"/>
              </a:rPr>
              <a:t>University of Liverpool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0" y="4704308"/>
            <a:ext cx="274534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Space Grotesk"/>
              </a:rPr>
              <a:t>PROJECT 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0" y="4913858"/>
            <a:ext cx="26146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1F5F9"/>
                </a:solidFill>
                <a:latin typeface="Plus Jakarta Sans SemiBold"/>
              </a:rPr>
              <a:t>Tony 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6362" y="4704308"/>
            <a:ext cx="274534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Space Grotesk"/>
              </a:rPr>
              <a:t>ACADEMIC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6362" y="4913858"/>
            <a:ext cx="26146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1F5F9"/>
                </a:solidFill>
                <a:latin typeface="Plus Jakarta Sans SemiBold"/>
              </a:rPr>
              <a:t>COMP702 Project 2025/26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47900"/>
            <a:ext cx="3524250" cy="3057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247900"/>
            <a:ext cx="3524250" cy="3057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247900"/>
            <a:ext cx="3524250" cy="3057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7262" y="485775"/>
            <a:ext cx="11186398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Space Grotesk"/>
              </a:rPr>
              <a:t>The Problem: Compliance &amp; Data Privacy Barriers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6505575"/>
            <a:ext cx="495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02 / 08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57212"/>
            <a:ext cx="261937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543175"/>
            <a:ext cx="1614487" cy="2381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289560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7250" y="3524250"/>
            <a:ext cx="312039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UK GDPR &amp; FCA Bans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886200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Financial institutions (banks, law firms, wealth managers) cannot transmit client PII or proprietary portfolios to external public APIs like ChatGPT due to stringent statutory data governance laws.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0100" y="2543175"/>
            <a:ext cx="1147762" cy="2381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0100" y="289560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10100" y="3524250"/>
            <a:ext cx="312039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Third-Party Leakage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3886200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Sending confidential financial transcripts or deal terms to public cloud infrastructure risks catastrophic data breaches, regulatory fines, and intellectual property exposure.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2950" y="2543175"/>
            <a:ext cx="1485900" cy="2381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2950" y="289560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62950" y="3524250"/>
            <a:ext cx="312039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Air-Gapped Mandate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2950" y="38862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Industry standard operations require an AI assistant that runs </a:t>
            </a:r>
            <a:r>
              <a:rPr b="1" sz="1125" i="0" u="none">
                <a:solidFill>
                  <a:srgbClr val="F1F5F9"/>
                </a:solidFill>
                <a:latin typeface="Plus Jakarta Sans"/>
              </a:rPr>
              <a:t>100% offline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on standard corporate laptops without reliance on external server connectivity.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0600" y="3028950"/>
            <a:ext cx="19050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43450" y="3028950"/>
            <a:ext cx="19050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72487" y="3028950"/>
            <a:ext cx="23812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88964"/>
            <a:ext cx="5372100" cy="31753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88964"/>
            <a:ext cx="5372100" cy="31753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3808214"/>
            <a:ext cx="4819650" cy="10285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7262" y="485775"/>
            <a:ext cx="11186398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Space Grotesk"/>
              </a:rPr>
              <a:t>The Solution: On-Device FinanceAI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6505575"/>
            <a:ext cx="495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03 / 08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57212"/>
            <a:ext cx="261937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484239"/>
            <a:ext cx="2281237" cy="238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7250" y="2836664"/>
            <a:ext cx="5060632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3 Local Small Language Models (SLMs)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3198614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FinanceAI deploys lightweight, open-weight language models running locally via Ollama runtime directly on standard hardware: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2484239"/>
            <a:ext cx="1643062" cy="238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15100" y="2836664"/>
            <a:ext cx="5060632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Cloud Control &amp; Zero-Data Guarantees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3198614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Integrates Google Gemini Flash strictly as a performance control baseline to quantify offline SLM trade-offs.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3808214"/>
            <a:ext cx="45148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Mistral 7B: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High-capacity local reasoning engine.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4204394"/>
            <a:ext cx="45148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Llama 3.2 (3B):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Balanced latency and instruction accuracy.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50" y="4600575"/>
            <a:ext cx="45148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Phi-3 Mini (3.8B):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Low memory footprint for consumer laptops.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6075" y="3989189"/>
            <a:ext cx="4457700" cy="21327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ADE80"/>
                </a:solidFill>
                <a:latin typeface="Plus Jakarta Sans SemiBold"/>
              </a:rPr>
              <a:t>Privacy Guarantee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6075" y="4259609"/>
            <a:ext cx="445770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When running local SLMs, zero bytes leave the laptop boundary. Complete offline compliance achieved.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6075" y="4036814"/>
            <a:ext cx="13335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" y="3841551"/>
            <a:ext cx="17145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250" y="4237732"/>
            <a:ext cx="15240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250" y="4633912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017639"/>
            <a:ext cx="2286000" cy="15180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525" y="3017639"/>
            <a:ext cx="2286000" cy="15180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903339"/>
            <a:ext cx="5314950" cy="8018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3848100"/>
            <a:ext cx="5314950" cy="8018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5362" y="485775"/>
            <a:ext cx="11146393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Space Grotesk"/>
              </a:rPr>
              <a:t>System Architecture &amp; Execution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6505575"/>
            <a:ext cx="5048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04 / 08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57212"/>
            <a:ext cx="300037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5425" y="3217664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3901" y="3770114"/>
            <a:ext cx="198024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Space Grotesk"/>
              </a:rPr>
              <a:t>Streamlit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3970139"/>
            <a:ext cx="1885950" cy="365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Interactive UI, Document Uploader, Model Switcher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2287" y="3681412"/>
            <a:ext cx="18097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2925" y="3217664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91401" y="3770114"/>
            <a:ext cx="198024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Space Grotesk"/>
              </a:rPr>
              <a:t>FastAPI Router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8550" y="3970139"/>
            <a:ext cx="1885950" cy="365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Prompt Engineering, Telemetry (RAM &amp; Speed)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5500" y="3681412"/>
            <a:ext cx="20955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4487" y="3351014"/>
            <a:ext cx="21907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6275" y="3351014"/>
            <a:ext cx="19050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5575" y="2808089"/>
            <a:ext cx="2724150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05575" y="3752850"/>
            <a:ext cx="1885950" cy="1619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05575" y="3209032"/>
            <a:ext cx="238125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05575" y="4153792"/>
            <a:ext cx="238125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38950" y="3131939"/>
            <a:ext cx="1028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Ollama 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8950" y="3312914"/>
            <a:ext cx="171450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Mistral 7B | Llama 3.2 | Phi-3 Mini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8950" y="4076700"/>
            <a:ext cx="7048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084FC"/>
                </a:solidFill>
                <a:latin typeface="Plus Jakarta Sans"/>
              </a:rPr>
              <a:t>Gemini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8950" y="4257675"/>
            <a:ext cx="205740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Control benchmark baseline endpoint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38412"/>
            <a:ext cx="3524250" cy="2476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38412"/>
            <a:ext cx="3524250" cy="2476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538412"/>
            <a:ext cx="3524250" cy="247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5362" y="485775"/>
            <a:ext cx="11146393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Space Grotesk"/>
              </a:rPr>
              <a:t>Core Application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6505575"/>
            <a:ext cx="495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05 / 08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57212"/>
            <a:ext cx="300037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833687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7250" y="3462337"/>
            <a:ext cx="312039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1. Live Model 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3824287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Interactive real-time querying across all 4 models. Measures and displays exact response latency (seconds) and RAM footprint during inference.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0100" y="2833687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10100" y="3462337"/>
            <a:ext cx="312039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2. Local Document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824287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Upload PDF bank statements or regulatory docs. Local parsing and semantic extraction ensure sensitive files never touch third-party servers.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2950" y="2833687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62950" y="3462337"/>
            <a:ext cx="312039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3. Benchmark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2950" y="3824287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Automated evaluation suite displaying quantitative comparative metrics across models, domains, speed, and judge quality scores.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6787" y="2967037"/>
            <a:ext cx="23812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3450" y="2967037"/>
            <a:ext cx="19050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96300" y="2967037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09936"/>
            <a:ext cx="5372100" cy="333345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09936"/>
            <a:ext cx="5372100" cy="333345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1887" y="2843361"/>
            <a:ext cx="2886075" cy="523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7262" y="485775"/>
            <a:ext cx="11186398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Space Grotesk"/>
              </a:rPr>
              <a:t>Benchmark Methodology &amp; Evaluation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6505575"/>
            <a:ext cx="495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06 / 08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57212"/>
            <a:ext cx="261937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2405211"/>
            <a:ext cx="5060632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25 Finance-Specific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2767161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Questions evaluated across 5 core domain categories (3 repeated runs per query = 75 evaluations per model):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2405211"/>
            <a:ext cx="5060632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LLM-as-a-Judge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3557736"/>
            <a:ext cx="4819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Google Gemini Flash serves as an impartial, automated judge evaluating generated responses against authoritative reference answers based on factual accuracy, regulatory precision, and clarity.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050" y="3338661"/>
            <a:ext cx="45148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Factual Knowledge: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Financial terms &amp; taxonomy.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50" y="3734841"/>
            <a:ext cx="45148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Regulatory Compliance: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UK GDPR &amp; FCA rules.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4131022"/>
            <a:ext cx="45148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Financial Reasoning: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Numerical &amp; portfolio math.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4527202"/>
            <a:ext cx="45148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Plain Language: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Simplifying complex terms.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50" y="4923383"/>
            <a:ext cx="45148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Adversarial Safety: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Jailbreak &amp; ethical bounds.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4287" y="2995761"/>
            <a:ext cx="25812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C084FC"/>
                </a:solidFill>
                <a:latin typeface="Plus Jakarta Sans"/>
              </a:rPr>
              <a:t>Automated Scoring: Scale 1 – 5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371998"/>
            <a:ext cx="15240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3768179"/>
            <a:ext cx="219075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4164359"/>
            <a:ext cx="13335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" y="4560540"/>
            <a:ext cx="15240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250" y="4956720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33600"/>
            <a:ext cx="5372100" cy="3286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33600"/>
            <a:ext cx="5372100" cy="3286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867025"/>
            <a:ext cx="481965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7262" y="485775"/>
            <a:ext cx="11186398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Space Grotesk"/>
              </a:rPr>
              <a:t>Empirical Results: Quality vs Latency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6505575"/>
            <a:ext cx="485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07 / 08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57212"/>
            <a:ext cx="261937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2428875"/>
            <a:ext cx="5060632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Average Response Quality (Score 1-5)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2428875"/>
            <a:ext cx="5060632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Model Performance Metrics Summary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15100" y="2790825"/>
          <a:ext cx="4819649" cy="2352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193899"/>
                <a:gridCol w="1153120"/>
                <a:gridCol w="1046708"/>
                <a:gridCol w="1425922"/>
              </a:tblGrid>
              <a:tr h="47053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Model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Avg Latency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RAM Usage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Top Domain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7053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Mistral 7B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6.8s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~5.2 GB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Reasoning &amp; FCA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053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Llama 3.2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3.4s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~2.8 GB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Plain Language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053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Phi-3 Mini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2.1s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~2.2 GB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Factual Speed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053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Gemini (Cloud)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1.2s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0 GB (Cloud)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Overall Benchmark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515100" y="3314700"/>
            <a:ext cx="1193899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08999" y="3314700"/>
            <a:ext cx="115312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2119" y="3314700"/>
            <a:ext cx="1046708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908827" y="3314700"/>
            <a:ext cx="1425922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5100" y="3738562"/>
            <a:ext cx="11938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08999" y="3738562"/>
            <a:ext cx="115312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2119" y="3738562"/>
            <a:ext cx="104670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08827" y="3738562"/>
            <a:ext cx="142592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5100" y="4148137"/>
            <a:ext cx="11938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08999" y="4148137"/>
            <a:ext cx="115312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2119" y="4148137"/>
            <a:ext cx="104670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08827" y="4148137"/>
            <a:ext cx="142592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15100" y="4557712"/>
            <a:ext cx="11938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08999" y="4557712"/>
            <a:ext cx="115312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2119" y="4557712"/>
            <a:ext cx="104670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08827" y="4557712"/>
            <a:ext cx="142592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49983"/>
            <a:ext cx="5372100" cy="30533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249983"/>
            <a:ext cx="5372100" cy="30533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8687" y="485775"/>
            <a:ext cx="11216401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Space Grotesk"/>
              </a:rPr>
              <a:t>Conclusion &amp; Deployment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6505575"/>
            <a:ext cx="495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08 / 08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57212"/>
            <a:ext cx="233362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545258"/>
            <a:ext cx="1095375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2897683"/>
            <a:ext cx="5060632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Deployment Recommendations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2545258"/>
            <a:ext cx="971550" cy="2381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15100" y="2897683"/>
            <a:ext cx="5060632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259633"/>
            <a:ext cx="45148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High-Accuracy Scenarios: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F1F5F9"/>
                </a:solidFill>
                <a:latin typeface="Plus Jakarta Sans"/>
              </a:rPr>
              <a:t>Mistral 7B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delivers the strongest offline regulatory compliance and reasoning.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050" y="3899594"/>
            <a:ext cx="45148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Resource-Constrained Laptops: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F1F5F9"/>
                </a:solidFill>
                <a:latin typeface="Plus Jakarta Sans"/>
              </a:rPr>
              <a:t>Llama 3.2 / Phi-3 Mini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offer fast response times under strict RAM limits.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50" y="4539555"/>
            <a:ext cx="45148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Trade-off: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~12% quality reduction vs cloud API in exchange for </a:t>
            </a:r>
            <a:r>
              <a:rPr b="1" sz="1200" i="0" u="none">
                <a:solidFill>
                  <a:srgbClr val="F1F5F9"/>
                </a:solidFill>
                <a:latin typeface="Plus Jakarta Sans"/>
              </a:rPr>
              <a:t>100% data privacy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9900" y="3259633"/>
            <a:ext cx="45148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Hardware Acceleration: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Evaluate Apple Silicon NPU &amp; dedicated CUDA GPU execution performance.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9900" y="3899594"/>
            <a:ext cx="45148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Domain Fine-Tuning: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Apply LoRA adapter fine-tuning on UK FCA regulatory handbooks.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9900" y="4539555"/>
            <a:ext cx="45148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Plus Jakarta Sans"/>
              </a:rPr>
              <a:t>Expanded Dataset: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Scale evaluation suite to 100+ multi-turn dialogue scenarios.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3292971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3932932"/>
            <a:ext cx="219075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" y="4572892"/>
            <a:ext cx="219075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3292971"/>
            <a:ext cx="17145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5100" y="3932932"/>
            <a:ext cx="219075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4572892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